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Raleway"/>
      <p:regular r:id="rId21"/>
      <p:bold r:id="rId22"/>
      <p:italic r:id="rId23"/>
      <p:boldItalic r:id="rId24"/>
    </p:embeddedFont>
    <p:embeddedFont>
      <p:font typeface="Proxima Nova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Montserrat Black"/>
      <p:bold r:id="rId33"/>
      <p:boldItalic r:id="rId34"/>
    </p:embeddedFont>
    <p:embeddedFont>
      <p:font typeface="Montserrat Medium"/>
      <p:regular r:id="rId35"/>
      <p:bold r:id="rId36"/>
      <p:italic r:id="rId37"/>
      <p:boldItalic r:id="rId38"/>
    </p:embeddedFont>
    <p:embeddedFont>
      <p:font typeface="Helvetica Neue"/>
      <p:regular r:id="rId39"/>
      <p:bold r:id="rId40"/>
      <p:italic r:id="rId41"/>
      <p:boldItalic r:id="rId42"/>
    </p:embeddedFont>
    <p:embeddedFont>
      <p:font typeface="Montserrat ExtraBold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20" Type="http://schemas.openxmlformats.org/officeDocument/2006/relationships/font" Target="fonts/MontserratSemiBold-boldItalic.fntdata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22" Type="http://schemas.openxmlformats.org/officeDocument/2006/relationships/font" Target="fonts/Raleway-bold.fntdata"/><Relationship Id="rId44" Type="http://schemas.openxmlformats.org/officeDocument/2006/relationships/font" Target="fonts/MontserratExtraBold-boldItalic.fntdata"/><Relationship Id="rId21" Type="http://schemas.openxmlformats.org/officeDocument/2006/relationships/font" Target="fonts/Raleway-regular.fntdata"/><Relationship Id="rId43" Type="http://schemas.openxmlformats.org/officeDocument/2006/relationships/font" Target="fonts/MontserratExtraBold-bold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.fntdata"/><Relationship Id="rId25" Type="http://schemas.openxmlformats.org/officeDocument/2006/relationships/font" Target="fonts/ProximaNova-regular.fntdata"/><Relationship Id="rId28" Type="http://schemas.openxmlformats.org/officeDocument/2006/relationships/font" Target="fonts/ProximaNova-boldItalic.fntdata"/><Relationship Id="rId27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MontserratBlack-bold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Black-bold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Medium-bold.fntdata"/><Relationship Id="rId17" Type="http://schemas.openxmlformats.org/officeDocument/2006/relationships/font" Target="fonts/MontserratSemiBold-regular.fntdata"/><Relationship Id="rId39" Type="http://schemas.openxmlformats.org/officeDocument/2006/relationships/font" Target="fonts/HelveticaNeue-regular.fntdata"/><Relationship Id="rId16" Type="http://schemas.openxmlformats.org/officeDocument/2006/relationships/slide" Target="slides/slide11.xml"/><Relationship Id="rId38" Type="http://schemas.openxmlformats.org/officeDocument/2006/relationships/font" Target="fonts/MontserratMedium-boldItalic.fntdata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f4587993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20f4587993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4ce182afd2_1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24ce182afd2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774e919fb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2774e919f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74e919fba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2774e919fb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74e919fba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2774e919fba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774e919fba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2774e919fb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74e919fba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2774e919fb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774e919fba_0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774e919fba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774e919fba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2774e919fb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774e919fba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2774e919fb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774e919fba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2774e919fb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_Cover_light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wild_code_school (2).png"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8120" y="1298616"/>
            <a:ext cx="2878072" cy="9218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2"/>
          <p:cNvCxnSpPr/>
          <p:nvPr/>
        </p:nvCxnSpPr>
        <p:spPr>
          <a:xfrm rot="10800000">
            <a:off x="4147155" y="2605314"/>
            <a:ext cx="0" cy="863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234475" y="3504225"/>
            <a:ext cx="2215500" cy="3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None/>
              <a:def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_Cover_dark" type="secHead">
  <p:cSld name="SECTION_HEADER">
    <p:bg>
      <p:bgPr>
        <a:solidFill>
          <a:schemeClr val="dk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234475" y="3504225"/>
            <a:ext cx="2215500" cy="3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None/>
              <a:defRPr b="1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" name="Google Shape;14;p3"/>
          <p:cNvCxnSpPr/>
          <p:nvPr/>
        </p:nvCxnSpPr>
        <p:spPr>
          <a:xfrm rot="10800000">
            <a:off x="4147155" y="2605315"/>
            <a:ext cx="0" cy="86370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logo_wild_code_school2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9485" y="1278472"/>
            <a:ext cx="2926310" cy="937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2_Title_light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17" name="Google Shape;17;p4"/>
          <p:cNvPicPr preferRelativeResize="0"/>
          <p:nvPr/>
        </p:nvPicPr>
        <p:blipFill rotWithShape="1">
          <a:blip r:embed="rId2">
            <a:alphaModFix amt="5319"/>
          </a:blip>
          <a:srcRect b="0" l="0" r="0" t="0"/>
          <a:stretch/>
        </p:blipFill>
        <p:spPr>
          <a:xfrm>
            <a:off x="-341617" y="-1174284"/>
            <a:ext cx="10269126" cy="749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2154825" y="1957175"/>
            <a:ext cx="5254800" cy="12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pic>
        <p:nvPicPr>
          <p:cNvPr descr="logo_wild_code_school (2).png"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03" y="201963"/>
            <a:ext cx="900381" cy="288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2_Title_dark" type="twoColTx">
  <p:cSld name="TITLE_AND_TWO_COLUMNS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wild_code_school2.png" id="21" name="Google Shape;2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8503" y="201963"/>
            <a:ext cx="900381" cy="28837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type="title"/>
          </p:nvPr>
        </p:nvSpPr>
        <p:spPr>
          <a:xfrm>
            <a:off x="2154825" y="1957175"/>
            <a:ext cx="5254800" cy="12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 ExtraBold"/>
              <a:buNone/>
              <a:defRPr sz="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 ExtraBold"/>
              <a:buNone/>
              <a:defRPr sz="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 ExtraBold"/>
              <a:buNone/>
              <a:defRPr sz="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 ExtraBold"/>
              <a:buNone/>
              <a:defRPr sz="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 ExtraBold"/>
              <a:buNone/>
              <a:defRPr sz="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 ExtraBold"/>
              <a:buNone/>
              <a:defRPr sz="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 ExtraBold"/>
              <a:buNone/>
              <a:defRPr sz="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 ExtraBold"/>
              <a:buNone/>
              <a:defRPr sz="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 ExtraBold"/>
              <a:buNone/>
              <a:defRPr sz="3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3_Breadcrumb_1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24586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icone_wild_code_school.png" id="25" name="Google Shape;2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6"/>
          <p:cNvCxnSpPr/>
          <p:nvPr/>
        </p:nvCxnSpPr>
        <p:spPr>
          <a:xfrm>
            <a:off x="712915" y="507470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7" name="Google Shape;27;p6"/>
          <p:cNvSpPr txBox="1"/>
          <p:nvPr>
            <p:ph idx="2" type="title"/>
          </p:nvPr>
        </p:nvSpPr>
        <p:spPr>
          <a:xfrm>
            <a:off x="34313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3" type="title"/>
          </p:nvPr>
        </p:nvSpPr>
        <p:spPr>
          <a:xfrm>
            <a:off x="4270325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4" type="title"/>
          </p:nvPr>
        </p:nvSpPr>
        <p:spPr>
          <a:xfrm>
            <a:off x="51936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5" type="title"/>
          </p:nvPr>
        </p:nvSpPr>
        <p:spPr>
          <a:xfrm>
            <a:off x="60820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4_Breadcrumb_2">
  <p:cSld name="TITLE_ONLY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4313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2" type="title"/>
          </p:nvPr>
        </p:nvSpPr>
        <p:spPr>
          <a:xfrm>
            <a:off x="24586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3" type="title"/>
          </p:nvPr>
        </p:nvSpPr>
        <p:spPr>
          <a:xfrm>
            <a:off x="2618650" y="2315078"/>
            <a:ext cx="3906600" cy="45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4" type="title"/>
          </p:nvPr>
        </p:nvSpPr>
        <p:spPr>
          <a:xfrm>
            <a:off x="269675" y="1661700"/>
            <a:ext cx="68142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5" type="title"/>
          </p:nvPr>
        </p:nvSpPr>
        <p:spPr>
          <a:xfrm>
            <a:off x="269675" y="948850"/>
            <a:ext cx="68142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Font typeface="Montserrat ExtraBold"/>
              <a:buNone/>
              <a:defRPr sz="19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icone_wild_code_school.png" id="37" name="Google Shape;3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Google Shape;38;p7"/>
          <p:cNvCxnSpPr/>
          <p:nvPr/>
        </p:nvCxnSpPr>
        <p:spPr>
          <a:xfrm>
            <a:off x="712915" y="507470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9" name="Google Shape;39;p7"/>
          <p:cNvSpPr txBox="1"/>
          <p:nvPr>
            <p:ph idx="6" type="title"/>
          </p:nvPr>
        </p:nvSpPr>
        <p:spPr>
          <a:xfrm>
            <a:off x="4270325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7" type="title"/>
          </p:nvPr>
        </p:nvSpPr>
        <p:spPr>
          <a:xfrm>
            <a:off x="51936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8" type="title"/>
          </p:nvPr>
        </p:nvSpPr>
        <p:spPr>
          <a:xfrm>
            <a:off x="60820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2" name="Google Shape;42;p7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3" name="Google Shape;43;p7"/>
          <p:cNvSpPr txBox="1"/>
          <p:nvPr>
            <p:ph idx="9" type="title"/>
          </p:nvPr>
        </p:nvSpPr>
        <p:spPr>
          <a:xfrm>
            <a:off x="1722750" y="2322878"/>
            <a:ext cx="205500" cy="43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7146B"/>
              </a:buClr>
              <a:buSzPts val="2600"/>
              <a:buFont typeface="Montserrat ExtraBold"/>
              <a:buNone/>
              <a:defRPr sz="2600">
                <a:solidFill>
                  <a:srgbClr val="F714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5_Breadcrumb_3">
  <p:cSld name="TITLE_ONLY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7666475" y="2014318"/>
            <a:ext cx="205500" cy="43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7146B"/>
              </a:buClr>
              <a:buSzPts val="2600"/>
              <a:buFont typeface="Montserrat ExtraBold"/>
              <a:buNone/>
              <a:defRPr sz="2600">
                <a:solidFill>
                  <a:srgbClr val="F714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2" type="title"/>
          </p:nvPr>
        </p:nvSpPr>
        <p:spPr>
          <a:xfrm>
            <a:off x="5936150" y="1262919"/>
            <a:ext cx="205500" cy="43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146B"/>
              </a:buClr>
              <a:buSzPts val="2600"/>
              <a:buFont typeface="Montserrat ExtraBold"/>
              <a:buNone/>
              <a:defRPr sz="2600">
                <a:solidFill>
                  <a:srgbClr val="F7146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3" type="title"/>
          </p:nvPr>
        </p:nvSpPr>
        <p:spPr>
          <a:xfrm>
            <a:off x="34313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8" name="Google Shape;48;p8"/>
          <p:cNvCxnSpPr/>
          <p:nvPr/>
        </p:nvCxnSpPr>
        <p:spPr>
          <a:xfrm>
            <a:off x="712915" y="507470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9" name="Google Shape;49;p8"/>
          <p:cNvSpPr txBox="1"/>
          <p:nvPr>
            <p:ph idx="4" type="title"/>
          </p:nvPr>
        </p:nvSpPr>
        <p:spPr>
          <a:xfrm>
            <a:off x="269675" y="2159100"/>
            <a:ext cx="4270500" cy="25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5" type="title"/>
          </p:nvPr>
        </p:nvSpPr>
        <p:spPr>
          <a:xfrm>
            <a:off x="24586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6" type="title"/>
          </p:nvPr>
        </p:nvSpPr>
        <p:spPr>
          <a:xfrm>
            <a:off x="269675" y="1661700"/>
            <a:ext cx="68142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7" type="title"/>
          </p:nvPr>
        </p:nvSpPr>
        <p:spPr>
          <a:xfrm>
            <a:off x="269675" y="948850"/>
            <a:ext cx="68142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Font typeface="Montserrat ExtraBold"/>
              <a:buNone/>
              <a:defRPr sz="19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icone_wild_code_school.png" id="53" name="Google Shape;5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" name="Google Shape;54;p8"/>
          <p:cNvCxnSpPr/>
          <p:nvPr/>
        </p:nvCxnSpPr>
        <p:spPr>
          <a:xfrm>
            <a:off x="712915" y="507470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55" name="Google Shape;55;p8"/>
          <p:cNvSpPr txBox="1"/>
          <p:nvPr>
            <p:ph idx="8" type="title"/>
          </p:nvPr>
        </p:nvSpPr>
        <p:spPr>
          <a:xfrm>
            <a:off x="4270325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9" type="title"/>
          </p:nvPr>
        </p:nvSpPr>
        <p:spPr>
          <a:xfrm>
            <a:off x="51936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3" type="title"/>
          </p:nvPr>
        </p:nvSpPr>
        <p:spPr>
          <a:xfrm>
            <a:off x="60820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8" name="Google Shape;58;p8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59" name="Google Shape;59;p8"/>
          <p:cNvSpPr txBox="1"/>
          <p:nvPr>
            <p:ph idx="14" type="title"/>
          </p:nvPr>
        </p:nvSpPr>
        <p:spPr>
          <a:xfrm>
            <a:off x="6272700" y="1255119"/>
            <a:ext cx="1655100" cy="45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cxnSp>
        <p:nvCxnSpPr>
          <p:cNvPr id="60" name="Google Shape;60;p8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61" name="Google Shape;61;p8"/>
          <p:cNvSpPr txBox="1"/>
          <p:nvPr>
            <p:ph idx="15" type="title"/>
          </p:nvPr>
        </p:nvSpPr>
        <p:spPr>
          <a:xfrm>
            <a:off x="5930150" y="2006518"/>
            <a:ext cx="1655100" cy="45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7_Breadcrumb_img">
  <p:cSld name="TITLE_ONLY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1340200" y="1564100"/>
            <a:ext cx="39432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Font typeface="Montserrat ExtraBold"/>
              <a:buNone/>
              <a:defRPr sz="19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2" type="title"/>
          </p:nvPr>
        </p:nvSpPr>
        <p:spPr>
          <a:xfrm>
            <a:off x="34313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5" name="Google Shape;65;p9"/>
          <p:cNvCxnSpPr/>
          <p:nvPr/>
        </p:nvCxnSpPr>
        <p:spPr>
          <a:xfrm>
            <a:off x="712915" y="507470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66" name="Google Shape;66;p9"/>
          <p:cNvSpPr txBox="1"/>
          <p:nvPr>
            <p:ph idx="3" type="title"/>
          </p:nvPr>
        </p:nvSpPr>
        <p:spPr>
          <a:xfrm>
            <a:off x="24586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icone_wild_code_school.png" id="67" name="Google Shape;6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9"/>
          <p:cNvCxnSpPr/>
          <p:nvPr/>
        </p:nvCxnSpPr>
        <p:spPr>
          <a:xfrm>
            <a:off x="712915" y="507470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69" name="Google Shape;69;p9"/>
          <p:cNvSpPr txBox="1"/>
          <p:nvPr>
            <p:ph idx="4" type="title"/>
          </p:nvPr>
        </p:nvSpPr>
        <p:spPr>
          <a:xfrm>
            <a:off x="4270325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5" type="title"/>
          </p:nvPr>
        </p:nvSpPr>
        <p:spPr>
          <a:xfrm>
            <a:off x="60820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6" type="title"/>
          </p:nvPr>
        </p:nvSpPr>
        <p:spPr>
          <a:xfrm>
            <a:off x="51936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9"/>
          <p:cNvCxnSpPr/>
          <p:nvPr/>
        </p:nvCxnSpPr>
        <p:spPr>
          <a:xfrm>
            <a:off x="1398086" y="1993275"/>
            <a:ext cx="908700" cy="0"/>
          </a:xfrm>
          <a:prstGeom prst="straightConnector1">
            <a:avLst/>
          </a:prstGeom>
          <a:noFill/>
          <a:ln cap="flat" cmpd="sng" w="25400">
            <a:solidFill>
              <a:srgbClr val="000000">
                <a:alpha val="50199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73" name="Google Shape;73;p9"/>
          <p:cNvSpPr txBox="1"/>
          <p:nvPr>
            <p:ph idx="7" type="title"/>
          </p:nvPr>
        </p:nvSpPr>
        <p:spPr>
          <a:xfrm>
            <a:off x="1340200" y="2159100"/>
            <a:ext cx="2930100" cy="25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Proxima Nova"/>
              <a:buNone/>
              <a:defRPr sz="9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4" name="Google Shape;74;p9"/>
          <p:cNvSpPr/>
          <p:nvPr>
            <p:ph idx="8" type="pic"/>
          </p:nvPr>
        </p:nvSpPr>
        <p:spPr>
          <a:xfrm>
            <a:off x="4546300" y="1181175"/>
            <a:ext cx="4029000" cy="3535200"/>
          </a:xfrm>
          <a:prstGeom prst="roundRect">
            <a:avLst>
              <a:gd fmla="val 297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8_Left_frame">
  <p:cSld name="CUSTOM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F7146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77" name="Google Shape;77;p10"/>
          <p:cNvPicPr preferRelativeResize="0"/>
          <p:nvPr/>
        </p:nvPicPr>
        <p:blipFill rotWithShape="1">
          <a:blip r:embed="rId2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9_Left_frame_title">
  <p:cSld name="CUSTOM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F7146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80" name="Google Shape;80;p11"/>
          <p:cNvPicPr preferRelativeResize="0"/>
          <p:nvPr/>
        </p:nvPicPr>
        <p:blipFill rotWithShape="1">
          <a:blip r:embed="rId2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 txBox="1"/>
          <p:nvPr>
            <p:ph type="title"/>
          </p:nvPr>
        </p:nvSpPr>
        <p:spPr>
          <a:xfrm>
            <a:off x="971856" y="405433"/>
            <a:ext cx="68142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Font typeface="Montserrat ExtraBold"/>
              <a:buNone/>
              <a:defRPr sz="19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82" name="Google Shape;82;p11"/>
          <p:cNvCxnSpPr/>
          <p:nvPr/>
        </p:nvCxnSpPr>
        <p:spPr>
          <a:xfrm>
            <a:off x="1074163" y="866710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0_Title_big_logo_pink">
  <p:cSld name="CUSTOM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1048100" y="3010150"/>
            <a:ext cx="40968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2" type="title"/>
          </p:nvPr>
        </p:nvSpPr>
        <p:spPr>
          <a:xfrm>
            <a:off x="1048100" y="1052375"/>
            <a:ext cx="4096800" cy="18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pic>
        <p:nvPicPr>
          <p:cNvPr descr="icone_wild_code_school.png" id="86" name="Google Shape;8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65033" y="-988226"/>
            <a:ext cx="5613778" cy="4095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1_Title_big_logo_blue">
  <p:cSld name="CUSTOM_1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048100" y="3010150"/>
            <a:ext cx="40968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2" type="title"/>
          </p:nvPr>
        </p:nvSpPr>
        <p:spPr>
          <a:xfrm>
            <a:off x="1048100" y="1052375"/>
            <a:ext cx="4096800" cy="18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pic>
        <p:nvPicPr>
          <p:cNvPr descr="icone_wild_code_school_blue.png" id="90" name="Google Shape;9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67178" y="-1015372"/>
            <a:ext cx="5659460" cy="4128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2_Title_big_card_blue">
  <p:cSld name="CUSTOM_1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1048100" y="3010150"/>
            <a:ext cx="40968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3" name="Google Shape;93;p14"/>
          <p:cNvSpPr txBox="1"/>
          <p:nvPr>
            <p:ph idx="2" type="title"/>
          </p:nvPr>
        </p:nvSpPr>
        <p:spPr>
          <a:xfrm>
            <a:off x="1048100" y="1052375"/>
            <a:ext cx="4096800" cy="18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pic>
        <p:nvPicPr>
          <p:cNvPr descr="blue_card.png" id="94" name="Google Shape;9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42293" y="507477"/>
            <a:ext cx="2937564" cy="3919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3_Breadcrumb_card_blue">
  <p:cSld name="TITLE_ONLY_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15"/>
          <p:cNvCxnSpPr/>
          <p:nvPr/>
        </p:nvCxnSpPr>
        <p:spPr>
          <a:xfrm>
            <a:off x="712915" y="507470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97" name="Google Shape;97;p15"/>
          <p:cNvSpPr/>
          <p:nvPr/>
        </p:nvSpPr>
        <p:spPr>
          <a:xfrm>
            <a:off x="2787605" y="495564"/>
            <a:ext cx="411588" cy="23814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24586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2" type="title"/>
          </p:nvPr>
        </p:nvSpPr>
        <p:spPr>
          <a:xfrm>
            <a:off x="34313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3" type="title"/>
          </p:nvPr>
        </p:nvSpPr>
        <p:spPr>
          <a:xfrm>
            <a:off x="4270325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4" type="title"/>
          </p:nvPr>
        </p:nvSpPr>
        <p:spPr>
          <a:xfrm>
            <a:off x="51936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5" type="title"/>
          </p:nvPr>
        </p:nvSpPr>
        <p:spPr>
          <a:xfrm>
            <a:off x="60820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blue_card.png" id="103" name="Google Shape;10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9748" y="206614"/>
            <a:ext cx="451006" cy="60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4_Title_big_logo_green">
  <p:cSld name="CUSTOM_1_1_1_2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1048100" y="3010150"/>
            <a:ext cx="40968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2" type="title"/>
          </p:nvPr>
        </p:nvSpPr>
        <p:spPr>
          <a:xfrm>
            <a:off x="1048100" y="1052375"/>
            <a:ext cx="4096800" cy="18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pic>
        <p:nvPicPr>
          <p:cNvPr descr="icone_wild_code_school_green.png" id="107" name="Google Shape;10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0822" y="-953345"/>
            <a:ext cx="5558949" cy="4055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5_Title_big_card_green">
  <p:cSld name="CUSTOM_1_1_1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1048100" y="3010150"/>
            <a:ext cx="40968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2" type="title"/>
          </p:nvPr>
        </p:nvSpPr>
        <p:spPr>
          <a:xfrm>
            <a:off x="1048100" y="1052375"/>
            <a:ext cx="4096800" cy="18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pic>
        <p:nvPicPr>
          <p:cNvPr descr="green_card.png" id="111" name="Google Shape;11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42293" y="507477"/>
            <a:ext cx="2937564" cy="3919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6_Breadcrumb_card_green">
  <p:cSld name="TITLE_ONLY_2_1_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18"/>
          <p:cNvCxnSpPr/>
          <p:nvPr/>
        </p:nvCxnSpPr>
        <p:spPr>
          <a:xfrm>
            <a:off x="712915" y="507470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114" name="Google Shape;114;p18"/>
          <p:cNvSpPr/>
          <p:nvPr/>
        </p:nvSpPr>
        <p:spPr>
          <a:xfrm>
            <a:off x="2787605" y="495564"/>
            <a:ext cx="411588" cy="23814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24586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2" type="title"/>
          </p:nvPr>
        </p:nvSpPr>
        <p:spPr>
          <a:xfrm>
            <a:off x="34313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3" type="title"/>
          </p:nvPr>
        </p:nvSpPr>
        <p:spPr>
          <a:xfrm>
            <a:off x="4270325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4" type="title"/>
          </p:nvPr>
        </p:nvSpPr>
        <p:spPr>
          <a:xfrm>
            <a:off x="51936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5" type="title"/>
          </p:nvPr>
        </p:nvSpPr>
        <p:spPr>
          <a:xfrm>
            <a:off x="60820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green_card.png" id="120" name="Google Shape;12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9748" y="206614"/>
            <a:ext cx="451006" cy="60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7_Title_big_logo_purple">
  <p:cSld name="CUSTOM_1_1_1_2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1048100" y="3010150"/>
            <a:ext cx="40968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title"/>
          </p:nvPr>
        </p:nvSpPr>
        <p:spPr>
          <a:xfrm>
            <a:off x="1048100" y="1052375"/>
            <a:ext cx="4096800" cy="18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pic>
        <p:nvPicPr>
          <p:cNvPr descr="icone_wild_code_school_purple.png" id="124" name="Google Shape;12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56285" y="-967760"/>
            <a:ext cx="5613778" cy="4095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8_Title_big_card_purple">
  <p:cSld name="CUSTOM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1048100" y="3010150"/>
            <a:ext cx="40968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idx="2" type="title"/>
          </p:nvPr>
        </p:nvSpPr>
        <p:spPr>
          <a:xfrm>
            <a:off x="1048100" y="1052375"/>
            <a:ext cx="4096800" cy="18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pic>
        <p:nvPicPr>
          <p:cNvPr descr="purple_card.png" id="128" name="Google Shape;12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42293" y="507477"/>
            <a:ext cx="2937564" cy="3919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19_Breadcrumb_card_purple">
  <p:cSld name="TITLE_ONLY_2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Google Shape;130;p21"/>
          <p:cNvCxnSpPr/>
          <p:nvPr/>
        </p:nvCxnSpPr>
        <p:spPr>
          <a:xfrm>
            <a:off x="712915" y="507470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131" name="Google Shape;131;p21"/>
          <p:cNvSpPr/>
          <p:nvPr/>
        </p:nvSpPr>
        <p:spPr>
          <a:xfrm>
            <a:off x="2787605" y="495564"/>
            <a:ext cx="411588" cy="23814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21"/>
          <p:cNvSpPr txBox="1"/>
          <p:nvPr>
            <p:ph type="title"/>
          </p:nvPr>
        </p:nvSpPr>
        <p:spPr>
          <a:xfrm>
            <a:off x="24586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2" type="title"/>
          </p:nvPr>
        </p:nvSpPr>
        <p:spPr>
          <a:xfrm>
            <a:off x="34313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3" type="title"/>
          </p:nvPr>
        </p:nvSpPr>
        <p:spPr>
          <a:xfrm>
            <a:off x="4270325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4" type="title"/>
          </p:nvPr>
        </p:nvSpPr>
        <p:spPr>
          <a:xfrm>
            <a:off x="51936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5" type="title"/>
          </p:nvPr>
        </p:nvSpPr>
        <p:spPr>
          <a:xfrm>
            <a:off x="60820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purple_card.png" id="137" name="Google Shape;13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9748" y="206614"/>
            <a:ext cx="451006" cy="60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20_Title_big_logo_black">
  <p:cSld name="CUSTOM_1_1_1_2_1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67175" y="-1015400"/>
            <a:ext cx="5679831" cy="417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>
            <p:ph type="title"/>
          </p:nvPr>
        </p:nvSpPr>
        <p:spPr>
          <a:xfrm>
            <a:off x="1048100" y="3010150"/>
            <a:ext cx="40968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2" type="title"/>
          </p:nvPr>
        </p:nvSpPr>
        <p:spPr>
          <a:xfrm>
            <a:off x="1048100" y="1052375"/>
            <a:ext cx="4096800" cy="18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21_Title_big_card_black">
  <p:cSld name="CUSTOM_1_1_1_1_1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1048100" y="3010150"/>
            <a:ext cx="40968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2" type="title"/>
          </p:nvPr>
        </p:nvSpPr>
        <p:spPr>
          <a:xfrm>
            <a:off x="1048100" y="1052375"/>
            <a:ext cx="4096800" cy="18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Font typeface="Montserrat ExtraBold"/>
              <a:buNone/>
              <a:defRPr sz="3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pic>
        <p:nvPicPr>
          <p:cNvPr descr="black_card.png" id="145" name="Google Shape;14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42293" y="507477"/>
            <a:ext cx="2937564" cy="3919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#22_Breadcrumb_card_black">
  <p:cSld name="TITLE_ONLY_2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" name="Google Shape;147;p24"/>
          <p:cNvCxnSpPr/>
          <p:nvPr/>
        </p:nvCxnSpPr>
        <p:spPr>
          <a:xfrm>
            <a:off x="712915" y="507470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148" name="Google Shape;148;p24"/>
          <p:cNvSpPr/>
          <p:nvPr/>
        </p:nvSpPr>
        <p:spPr>
          <a:xfrm>
            <a:off x="2787605" y="495564"/>
            <a:ext cx="411588" cy="23814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4"/>
          <p:cNvSpPr txBox="1"/>
          <p:nvPr>
            <p:ph type="title"/>
          </p:nvPr>
        </p:nvSpPr>
        <p:spPr>
          <a:xfrm>
            <a:off x="24586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2" type="title"/>
          </p:nvPr>
        </p:nvSpPr>
        <p:spPr>
          <a:xfrm>
            <a:off x="343135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3" type="title"/>
          </p:nvPr>
        </p:nvSpPr>
        <p:spPr>
          <a:xfrm>
            <a:off x="4270325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4" type="title"/>
          </p:nvPr>
        </p:nvSpPr>
        <p:spPr>
          <a:xfrm>
            <a:off x="51936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5" type="title"/>
          </p:nvPr>
        </p:nvSpPr>
        <p:spPr>
          <a:xfrm>
            <a:off x="6082000" y="18900"/>
            <a:ext cx="1069500" cy="6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Font typeface="Montserrat SemiBold"/>
              <a:buNone/>
              <a:defRPr sz="9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black_card.png" id="154" name="Google Shape;15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9748" y="206614"/>
            <a:ext cx="451006" cy="60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5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5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9pPr>
          </a:lstStyle>
          <a:p/>
        </p:txBody>
      </p:sp>
      <p:sp>
        <p:nvSpPr>
          <p:cNvPr id="176" name="Google Shape;176;p27"/>
          <p:cNvSpPr txBox="1"/>
          <p:nvPr>
            <p:ph idx="1" type="subTitle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>
  <p:cSld name="TITLE_AND_TWO_COLUMNS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83" name="Google Shape;183;p29"/>
          <p:cNvSpPr txBox="1"/>
          <p:nvPr>
            <p:ph idx="2" type="body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84" name="Google Shape;184;p2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 4">
  <p:cSld name="TITLE_1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87" name="Google Shape;187;p30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188" name="Google Shape;188;p30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89" name="Google Shape;189;p30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40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>
  <p:cSld name="TITLE_1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500"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500"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500"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5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500"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500"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500"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500"/>
            </a:lvl9pPr>
          </a:lstStyle>
          <a:p/>
        </p:txBody>
      </p:sp>
      <p:sp>
        <p:nvSpPr>
          <p:cNvPr id="192" name="Google Shape;192;p31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500"/>
            </a:lvl9pPr>
          </a:lstStyle>
          <a:p/>
        </p:txBody>
      </p:sp>
      <p:sp>
        <p:nvSpPr>
          <p:cNvPr id="193" name="Google Shape;193;p31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500"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 sz="500"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 sz="500"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 sz="500"/>
            </a:lvl9pPr>
          </a:lstStyle>
          <a:p/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50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 1">
  <p:cSld name="TITLE_14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97" name="Google Shape;197;p32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198" name="Google Shape;198;p32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99" name="Google Shape;199;p32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drive/folders/16ZvUbjQP2EF5kseAdzEorftLlyeJehT3?usp=drive_link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hyperlink" Target="http://drive.google.com/file/d/15PpNELrk-NSanJFfV1wkr4-_FrGWkB_v/view" TargetMode="External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204" name="Google Shape;20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5033" y="-988226"/>
            <a:ext cx="5613778" cy="409565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/>
        </p:nvSpPr>
        <p:spPr>
          <a:xfrm>
            <a:off x="906750" y="3025675"/>
            <a:ext cx="56139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fr" sz="3800">
                <a:latin typeface="Montserrat ExtraBold"/>
                <a:ea typeface="Montserrat ExtraBold"/>
                <a:cs typeface="Montserrat ExtraBold"/>
                <a:sym typeface="Montserrat ExtraBold"/>
              </a:rPr>
              <a:t>Missions </a:t>
            </a:r>
            <a:r>
              <a:rPr lang="fr" sz="3800">
                <a:solidFill>
                  <a:srgbClr val="3D6B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DATA</a:t>
            </a:r>
            <a:endParaRPr sz="3800">
              <a:solidFill>
                <a:srgbClr val="3D6BE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922874" y="3850775"/>
            <a:ext cx="5454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icone_wild_code_school_blue.png" id="207" name="Google Shape;20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5025" y="-988225"/>
            <a:ext cx="5613774" cy="4095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/>
        </p:nvSpPr>
        <p:spPr>
          <a:xfrm>
            <a:off x="1245525" y="231550"/>
            <a:ext cx="770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Définition</a:t>
            </a:r>
            <a:endParaRPr sz="2200">
              <a:solidFill>
                <a:srgbClr val="F7156B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13" name="Google Shape;213;p34"/>
          <p:cNvSpPr txBox="1"/>
          <p:nvPr/>
        </p:nvSpPr>
        <p:spPr>
          <a:xfrm>
            <a:off x="1267500" y="1469050"/>
            <a:ext cx="7371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22222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Les Missions DATA sont une nouvelle </a:t>
            </a:r>
            <a:r>
              <a:rPr b="1" lang="fr" sz="1800">
                <a:solidFill>
                  <a:srgbClr val="22222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méthodologie d’apprentissage, ciblée sur les besoins métiers</a:t>
            </a:r>
            <a:r>
              <a:rPr lang="fr" sz="1800">
                <a:solidFill>
                  <a:srgbClr val="22222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, qui a été testée et validée par des promos Data Analyst. </a:t>
            </a:r>
            <a:endParaRPr sz="1800">
              <a:solidFill>
                <a:srgbClr val="222222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22222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Cette méthodologie concentre</a:t>
            </a:r>
            <a:r>
              <a:rPr b="1" lang="fr" sz="1800">
                <a:solidFill>
                  <a:srgbClr val="22222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 jeu de rôle, analyse de données et relation client. </a:t>
            </a:r>
            <a:endParaRPr sz="1800">
              <a:solidFill>
                <a:srgbClr val="222222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22222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C’est une méthodologie complémentaire aux DOJOS</a:t>
            </a:r>
            <a:endParaRPr sz="1800">
              <a:solidFill>
                <a:srgbClr val="222222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3D6BE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215" name="Google Shape;215;p34"/>
          <p:cNvPicPr preferRelativeResize="0"/>
          <p:nvPr/>
        </p:nvPicPr>
        <p:blipFill rotWithShape="1">
          <a:blip r:embed="rId3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/>
        </p:nvSpPr>
        <p:spPr>
          <a:xfrm>
            <a:off x="810000" y="217725"/>
            <a:ext cx="8624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Les étapes </a:t>
            </a:r>
            <a:r>
              <a:rPr lang="fr" sz="2200">
                <a:solidFill>
                  <a:srgbClr val="3D6B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préliminaires</a:t>
            </a:r>
            <a:endParaRPr sz="2200">
              <a:solidFill>
                <a:srgbClr val="3D6BE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1" name="Google Shape;221;p35"/>
          <p:cNvSpPr txBox="1"/>
          <p:nvPr/>
        </p:nvSpPr>
        <p:spPr>
          <a:xfrm>
            <a:off x="962700" y="707050"/>
            <a:ext cx="7848000" cy="47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Font typeface="Raleway"/>
              <a:buAutoNum type="arabicPeriod"/>
            </a:pPr>
            <a:r>
              <a:rPr lang="fr" sz="1900">
                <a:latin typeface="Raleway"/>
                <a:ea typeface="Raleway"/>
                <a:cs typeface="Raleway"/>
                <a:sym typeface="Raleway"/>
              </a:rPr>
              <a:t>Chaque élève choisit un </a:t>
            </a:r>
            <a:r>
              <a:rPr b="1" lang="fr" sz="1900">
                <a:latin typeface="Raleway"/>
                <a:ea typeface="Raleway"/>
                <a:cs typeface="Raleway"/>
                <a:sym typeface="Raleway"/>
              </a:rPr>
              <a:t>dataset en fonction de son centre d’intérêt</a:t>
            </a:r>
            <a:r>
              <a:rPr lang="fr" sz="1900">
                <a:latin typeface="Raleway"/>
                <a:ea typeface="Raleway"/>
                <a:cs typeface="Raleway"/>
                <a:sym typeface="Raleway"/>
              </a:rPr>
              <a:t> (sur Kaggle, Data.gouv.fr ou autre )</a:t>
            </a:r>
            <a:endParaRPr sz="1900"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900">
                <a:latin typeface="Raleway"/>
                <a:ea typeface="Raleway"/>
                <a:cs typeface="Raleway"/>
                <a:sym typeface="Raleway"/>
              </a:rPr>
              <a:t>Le dataset doit être suffisamment complexe pour permettre une étude complète, mais ne pas nécessiter de nettoyage trop complexe vu le temps dédié .</a:t>
            </a:r>
            <a:endParaRPr i="1" sz="1900">
              <a:latin typeface="Raleway"/>
              <a:ea typeface="Raleway"/>
              <a:cs typeface="Raleway"/>
              <a:sym typeface="Raleway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Font typeface="Raleway"/>
              <a:buAutoNum type="arabicPeriod"/>
            </a:pPr>
            <a:r>
              <a:rPr lang="fr" sz="1900">
                <a:latin typeface="Raleway"/>
                <a:ea typeface="Raleway"/>
                <a:cs typeface="Raleway"/>
                <a:sym typeface="Raleway"/>
              </a:rPr>
              <a:t>Une fois le dataset validé par le formateur, chaque élève doit rédiger un </a:t>
            </a:r>
            <a:r>
              <a:rPr b="1" lang="fr" sz="1900">
                <a:latin typeface="Raleway"/>
                <a:ea typeface="Raleway"/>
                <a:cs typeface="Raleway"/>
                <a:sym typeface="Raleway"/>
              </a:rPr>
              <a:t>Brief Client.</a:t>
            </a:r>
            <a:r>
              <a:rPr lang="fr" sz="1900">
                <a:latin typeface="Raleway"/>
                <a:ea typeface="Raleway"/>
                <a:cs typeface="Raleway"/>
                <a:sym typeface="Raleway"/>
              </a:rPr>
              <a:t> Celui-ci doit comporter, en plus du lien vers le dataset : </a:t>
            </a:r>
            <a:endParaRPr sz="1900">
              <a:latin typeface="Raleway"/>
              <a:ea typeface="Raleway"/>
              <a:cs typeface="Raleway"/>
              <a:sym typeface="Raleway"/>
            </a:endParaRPr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Font typeface="Raleway"/>
              <a:buAutoNum type="alphaLcPeriod"/>
            </a:pPr>
            <a:r>
              <a:rPr lang="fr" sz="1900">
                <a:latin typeface="Raleway"/>
                <a:ea typeface="Raleway"/>
                <a:cs typeface="Raleway"/>
                <a:sym typeface="Raleway"/>
              </a:rPr>
              <a:t>Le nom et la description du client fictif</a:t>
            </a:r>
            <a:endParaRPr sz="1900">
              <a:latin typeface="Raleway"/>
              <a:ea typeface="Raleway"/>
              <a:cs typeface="Raleway"/>
              <a:sym typeface="Raleway"/>
            </a:endParaRPr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Font typeface="Raleway"/>
              <a:buAutoNum type="alphaLcPeriod"/>
            </a:pPr>
            <a:r>
              <a:rPr lang="fr" sz="1900">
                <a:latin typeface="Raleway"/>
                <a:ea typeface="Raleway"/>
                <a:cs typeface="Raleway"/>
                <a:sym typeface="Raleway"/>
              </a:rPr>
              <a:t>La nature de la mission data </a:t>
            </a:r>
            <a:endParaRPr sz="1900">
              <a:latin typeface="Raleway"/>
              <a:ea typeface="Raleway"/>
              <a:cs typeface="Raleway"/>
              <a:sym typeface="Raleway"/>
            </a:endParaRPr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Font typeface="Raleway"/>
              <a:buAutoNum type="alphaLcPeriod"/>
            </a:pPr>
            <a:r>
              <a:rPr lang="fr" sz="1900">
                <a:latin typeface="Raleway"/>
                <a:ea typeface="Raleway"/>
                <a:cs typeface="Raleway"/>
                <a:sym typeface="Raleway"/>
              </a:rPr>
              <a:t>Les livrables attendus</a:t>
            </a:r>
            <a:endParaRPr sz="1900">
              <a:latin typeface="Raleway"/>
              <a:ea typeface="Raleway"/>
              <a:cs typeface="Raleway"/>
              <a:sym typeface="Raleway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Font typeface="Raleway"/>
              <a:buAutoNum type="arabicPeriod"/>
            </a:pPr>
            <a:r>
              <a:rPr lang="fr" sz="1900">
                <a:latin typeface="Raleway"/>
                <a:ea typeface="Raleway"/>
                <a:cs typeface="Raleway"/>
                <a:sym typeface="Raleway"/>
              </a:rPr>
              <a:t>Une fois les Briefs Clients validés par le formateur, celui-ci programme une journée </a:t>
            </a:r>
            <a:r>
              <a:rPr b="1" lang="fr" sz="1900">
                <a:latin typeface="Raleway"/>
                <a:ea typeface="Raleway"/>
                <a:cs typeface="Raleway"/>
                <a:sym typeface="Raleway"/>
              </a:rPr>
              <a:t>Mission Data</a:t>
            </a:r>
            <a:endParaRPr b="1" sz="1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Raleway"/>
                <a:ea typeface="Raleway"/>
                <a:cs typeface="Raleway"/>
                <a:sym typeface="Raleway"/>
              </a:rPr>
              <a:t>		</a:t>
            </a:r>
            <a:r>
              <a:rPr i="1" lang="fr" sz="1900">
                <a:latin typeface="Raleway"/>
                <a:ea typeface="Raleway"/>
                <a:cs typeface="Raleway"/>
                <a:sym typeface="Raleway"/>
              </a:rPr>
              <a:t>Le formateur peut créer des groupes de deux (Team Data) et choisir la moitié de la classe qui sera aussi Client</a:t>
            </a:r>
            <a:endParaRPr i="1" sz="1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2" name="Google Shape;222;p35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3D6BE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223" name="Google Shape;223;p35"/>
          <p:cNvPicPr preferRelativeResize="0"/>
          <p:nvPr/>
        </p:nvPicPr>
        <p:blipFill rotWithShape="1">
          <a:blip r:embed="rId3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/>
        </p:nvSpPr>
        <p:spPr>
          <a:xfrm>
            <a:off x="940725" y="231550"/>
            <a:ext cx="8624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Exemple d’un Brief Client </a:t>
            </a:r>
            <a:r>
              <a:rPr lang="fr" sz="2200">
                <a:solidFill>
                  <a:srgbClr val="3D6B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réalisé par un élève</a:t>
            </a:r>
            <a:endParaRPr sz="2200">
              <a:solidFill>
                <a:srgbClr val="3D6BE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25" y="820400"/>
            <a:ext cx="5039974" cy="376938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 txBox="1"/>
          <p:nvPr/>
        </p:nvSpPr>
        <p:spPr>
          <a:xfrm>
            <a:off x="5980700" y="1221475"/>
            <a:ext cx="2649000" cy="21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Conseils :</a:t>
            </a:r>
            <a:r>
              <a:rPr lang="fr"/>
              <a:t> Jouez le jeu, en vous mettant dans la tête du client, et rédigez un Brief Client professionnel avec logo, code couleur et plus.</a:t>
            </a:r>
            <a:endParaRPr/>
          </a:p>
        </p:txBody>
      </p:sp>
      <p:sp>
        <p:nvSpPr>
          <p:cNvPr id="231" name="Google Shape;231;p36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3D6BE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232" name="Google Shape;232;p36"/>
          <p:cNvPicPr preferRelativeResize="0"/>
          <p:nvPr/>
        </p:nvPicPr>
        <p:blipFill rotWithShape="1">
          <a:blip r:embed="rId4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/>
        </p:nvSpPr>
        <p:spPr>
          <a:xfrm>
            <a:off x="1451900" y="1645300"/>
            <a:ext cx="7844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fr" sz="3800">
                <a:latin typeface="Montserrat ExtraBold"/>
                <a:ea typeface="Montserrat ExtraBold"/>
                <a:cs typeface="Montserrat ExtraBold"/>
                <a:sym typeface="Montserrat ExtraBold"/>
              </a:rPr>
              <a:t>La Mission </a:t>
            </a:r>
            <a:r>
              <a:rPr lang="fr" sz="3800">
                <a:solidFill>
                  <a:srgbClr val="3D6B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Data</a:t>
            </a:r>
            <a:endParaRPr sz="3800">
              <a:solidFill>
                <a:srgbClr val="3D6BE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3D6BE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239" name="Google Shape;239;p37"/>
          <p:cNvPicPr preferRelativeResize="0"/>
          <p:nvPr/>
        </p:nvPicPr>
        <p:blipFill rotWithShape="1">
          <a:blip r:embed="rId3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/>
        </p:nvSpPr>
        <p:spPr>
          <a:xfrm>
            <a:off x="889425" y="128375"/>
            <a:ext cx="7930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La Mission </a:t>
            </a:r>
            <a:r>
              <a:rPr lang="fr" sz="2200">
                <a:solidFill>
                  <a:srgbClr val="3D6B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Data</a:t>
            </a:r>
            <a:endParaRPr sz="2200">
              <a:solidFill>
                <a:srgbClr val="3D6BE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5" name="Google Shape;245;p38"/>
          <p:cNvSpPr txBox="1"/>
          <p:nvPr/>
        </p:nvSpPr>
        <p:spPr>
          <a:xfrm>
            <a:off x="968100" y="574825"/>
            <a:ext cx="7851900" cy="47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La Mission Data se déroule sur 2 jours sur 4 étapes clés  :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AutoNum type="arabicPeriod"/>
            </a:pPr>
            <a:r>
              <a:rPr b="1" lang="fr" sz="1800">
                <a:latin typeface="Raleway"/>
                <a:ea typeface="Raleway"/>
                <a:cs typeface="Raleway"/>
                <a:sym typeface="Raleway"/>
              </a:rPr>
              <a:t>JOUR 0 - Présentation mission Data: </a:t>
            </a:r>
            <a:r>
              <a:rPr lang="fr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 formateur présente le format le J-1 du début de la mission Data , les élèves choisissent le Dataset et forme les binome Client/Data Analyst</a:t>
            </a: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AutoNum type="arabicPeriod"/>
            </a:pPr>
            <a:r>
              <a:rPr b="1" lang="fr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JOUR 1 - Brief Client: </a:t>
            </a:r>
            <a:r>
              <a:rPr lang="fr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À 9h, l’élève Client rencontre en visio/réel son Data Analyst et lui présente son projet Data dans sa globalité. Le Data Analyst doit s’intéresser au projet et poser les questions nécessaires à la bonne réalisation du projet. (max 25 min.)	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AutoNum type="arabicPeriod"/>
            </a:pPr>
            <a:r>
              <a:rPr b="1" lang="fr" sz="1800">
                <a:latin typeface="Raleway"/>
                <a:ea typeface="Raleway"/>
                <a:cs typeface="Raleway"/>
                <a:sym typeface="Raleway"/>
              </a:rPr>
              <a:t>JOUR 2 - Retour Client </a:t>
            </a: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: À 9h, le Data Analyst présente une première ébauche du travail effectué. Le Client devra faire des retours au Data Analyst ( max 25 min)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AutoNum type="arabicPeriod"/>
            </a:pPr>
            <a:r>
              <a:rPr b="1" lang="fr" sz="1800">
                <a:latin typeface="Raleway"/>
                <a:ea typeface="Raleway"/>
                <a:cs typeface="Raleway"/>
                <a:sym typeface="Raleway"/>
              </a:rPr>
              <a:t>JOUR 2 - Présentation finale </a:t>
            </a: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: À 16h00, le Data Analyst présente son livrable fini au Client (max 7 min. )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sz="19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6" name="Google Shape;246;p38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3D6BE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247" name="Google Shape;247;p38"/>
          <p:cNvPicPr preferRelativeResize="0"/>
          <p:nvPr/>
        </p:nvPicPr>
        <p:blipFill rotWithShape="1">
          <a:blip r:embed="rId3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/>
        </p:nvSpPr>
        <p:spPr>
          <a:xfrm>
            <a:off x="994825" y="238450"/>
            <a:ext cx="8624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Exemples de Missions DATA </a:t>
            </a:r>
            <a:r>
              <a:rPr lang="fr" sz="2200">
                <a:solidFill>
                  <a:srgbClr val="3D6B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réalisées par des élèves</a:t>
            </a:r>
            <a:endParaRPr sz="2200">
              <a:solidFill>
                <a:srgbClr val="3D6BE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5566600" y="857225"/>
            <a:ext cx="3063000" cy="3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aleway"/>
                <a:ea typeface="Raleway"/>
                <a:cs typeface="Raleway"/>
                <a:sym typeface="Raleway"/>
              </a:rPr>
              <a:t>Retrouvez des exemples de missions Data réalisées par la promo Data Remote :</a:t>
            </a:r>
            <a:r>
              <a:rPr b="1" lang="fr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fr" u="sng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ici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latin typeface="Raleway"/>
                <a:ea typeface="Raleway"/>
                <a:cs typeface="Raleway"/>
                <a:sym typeface="Raleway"/>
              </a:rPr>
              <a:t>Attention aux sensibilités</a:t>
            </a:r>
            <a:r>
              <a:rPr lang="fr">
                <a:latin typeface="Raleway"/>
                <a:ea typeface="Raleway"/>
                <a:cs typeface="Raleway"/>
                <a:sym typeface="Raleway"/>
              </a:rPr>
              <a:t> des élèves quant aux datasets (écologie, véganisme, religion)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254" name="Google Shape;25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000" y="1074300"/>
            <a:ext cx="4597349" cy="297320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9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3D6BE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256" name="Google Shape;256;p39"/>
          <p:cNvPicPr preferRelativeResize="0"/>
          <p:nvPr/>
        </p:nvPicPr>
        <p:blipFill rotWithShape="1">
          <a:blip r:embed="rId5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/>
        </p:nvSpPr>
        <p:spPr>
          <a:xfrm>
            <a:off x="940300" y="1389525"/>
            <a:ext cx="7844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fr" sz="3800">
                <a:latin typeface="Montserrat ExtraBold"/>
                <a:ea typeface="Montserrat ExtraBold"/>
                <a:cs typeface="Montserrat ExtraBold"/>
                <a:sym typeface="Montserrat ExtraBold"/>
              </a:rPr>
              <a:t>Les rôles </a:t>
            </a:r>
            <a:r>
              <a:rPr lang="fr" sz="3800">
                <a:solidFill>
                  <a:srgbClr val="3D6B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du Formateur</a:t>
            </a:r>
            <a:endParaRPr sz="3800">
              <a:solidFill>
                <a:srgbClr val="3D6BE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62" name="Google Shape;262;p40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3D6BE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263" name="Google Shape;263;p40"/>
          <p:cNvPicPr preferRelativeResize="0"/>
          <p:nvPr/>
        </p:nvPicPr>
        <p:blipFill rotWithShape="1">
          <a:blip r:embed="rId3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/>
          <p:nvPr/>
        </p:nvSpPr>
        <p:spPr>
          <a:xfrm>
            <a:off x="940725" y="231550"/>
            <a:ext cx="8624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Les rôles </a:t>
            </a:r>
            <a:r>
              <a:rPr lang="fr" sz="2200">
                <a:solidFill>
                  <a:srgbClr val="3D6B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du Formateur</a:t>
            </a:r>
            <a:endParaRPr sz="2200">
              <a:solidFill>
                <a:srgbClr val="3D6BE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69" name="Google Shape;269;p41"/>
          <p:cNvSpPr txBox="1"/>
          <p:nvPr/>
        </p:nvSpPr>
        <p:spPr>
          <a:xfrm>
            <a:off x="776325" y="1272425"/>
            <a:ext cx="8343300" cy="3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Le formateur Data est lui-même </a:t>
            </a:r>
            <a:r>
              <a:rPr b="1" lang="fr" sz="1800">
                <a:latin typeface="Raleway"/>
                <a:ea typeface="Raleway"/>
                <a:cs typeface="Raleway"/>
                <a:sym typeface="Raleway"/>
              </a:rPr>
              <a:t>doublement plongé dans un jeu de rôle :</a:t>
            </a: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AutoNum type="arabicPeriod"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Il est </a:t>
            </a:r>
            <a:r>
              <a:rPr b="1" lang="fr" sz="1800">
                <a:latin typeface="Raleway"/>
                <a:ea typeface="Raleway"/>
                <a:cs typeface="Raleway"/>
                <a:sym typeface="Raleway"/>
              </a:rPr>
              <a:t>le manager de la Team Data</a:t>
            </a: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, doit les conseiller sur la mise en place de la mission Data et sur les chemins à suivre. Son objectif est que </a:t>
            </a:r>
            <a:r>
              <a:rPr b="1" lang="fr" sz="1800">
                <a:latin typeface="Raleway"/>
                <a:ea typeface="Raleway"/>
                <a:cs typeface="Raleway"/>
                <a:sym typeface="Raleway"/>
              </a:rPr>
              <a:t>100% des contrats Data soient prolongés.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AutoNum type="arabicPeriod"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Il est </a:t>
            </a:r>
            <a:r>
              <a:rPr b="1" lang="fr" sz="1800">
                <a:latin typeface="Raleway"/>
                <a:ea typeface="Raleway"/>
                <a:cs typeface="Raleway"/>
                <a:sym typeface="Raleway"/>
              </a:rPr>
              <a:t>le manager de la Team Client</a:t>
            </a: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 : il débriefe avec les clients pour savoir si les contrats Data sont prolongés.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0" name="Google Shape;270;p41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3D6BE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271" name="Google Shape;271;p41"/>
          <p:cNvPicPr preferRelativeResize="0"/>
          <p:nvPr/>
        </p:nvPicPr>
        <p:blipFill rotWithShape="1">
          <a:blip r:embed="rId3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 txBox="1"/>
          <p:nvPr/>
        </p:nvSpPr>
        <p:spPr>
          <a:xfrm>
            <a:off x="864525" y="231550"/>
            <a:ext cx="8624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Débrief </a:t>
            </a:r>
            <a:r>
              <a:rPr lang="fr" sz="2200">
                <a:solidFill>
                  <a:srgbClr val="3D6B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Mission DATA</a:t>
            </a:r>
            <a:endParaRPr sz="2200">
              <a:solidFill>
                <a:srgbClr val="3D6BE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7" name="Google Shape;277;p42"/>
          <p:cNvSpPr txBox="1"/>
          <p:nvPr/>
        </p:nvSpPr>
        <p:spPr>
          <a:xfrm>
            <a:off x="852525" y="1272425"/>
            <a:ext cx="8343300" cy="3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En fin de mission Data, les clients doivent partager au formateur </a:t>
            </a:r>
            <a:r>
              <a:rPr b="1" lang="fr" sz="1800">
                <a:latin typeface="Raleway"/>
                <a:ea typeface="Raleway"/>
                <a:cs typeface="Raleway"/>
                <a:sym typeface="Raleway"/>
              </a:rPr>
              <a:t>un débrief</a:t>
            </a: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 : 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-"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Retours Clients pris en compte ou pas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-"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Axes d’amélioration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-"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Toujours dans le jeu de rôle, dire s’ils poursuivent le contrat Data ou pas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8" name="Google Shape;278;p42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3D6BE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279" name="Google Shape;279;p42"/>
          <p:cNvPicPr preferRelativeResize="0"/>
          <p:nvPr/>
        </p:nvPicPr>
        <p:blipFill rotWithShape="1">
          <a:blip r:embed="rId3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/>
        </p:nvSpPr>
        <p:spPr>
          <a:xfrm>
            <a:off x="932575" y="217725"/>
            <a:ext cx="8624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Exemple d’une </a:t>
            </a:r>
            <a:r>
              <a:rPr lang="fr" sz="2200">
                <a:solidFill>
                  <a:srgbClr val="3D6B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présentation finale face au client</a:t>
            </a:r>
            <a:endParaRPr sz="2200">
              <a:solidFill>
                <a:srgbClr val="3D6BE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5" name="Google Shape;285;p43"/>
          <p:cNvSpPr/>
          <p:nvPr/>
        </p:nvSpPr>
        <p:spPr>
          <a:xfrm>
            <a:off x="-29416" y="-32149"/>
            <a:ext cx="801900" cy="5308200"/>
          </a:xfrm>
          <a:prstGeom prst="rect">
            <a:avLst/>
          </a:prstGeom>
          <a:solidFill>
            <a:srgbClr val="3D6BE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logo_wild_code_school_white.png" id="286" name="Google Shape;286;p43"/>
          <p:cNvPicPr preferRelativeResize="0"/>
          <p:nvPr/>
        </p:nvPicPr>
        <p:blipFill rotWithShape="1">
          <a:blip r:embed="rId3">
            <a:alphaModFix/>
          </a:blip>
          <a:srcRect b="0" l="0" r="51812" t="0"/>
          <a:stretch/>
        </p:blipFill>
        <p:spPr>
          <a:xfrm>
            <a:off x="145677" y="209096"/>
            <a:ext cx="451888" cy="300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3" title="Teledatards_Philippe_Angélique&amp;Gauthier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9750" y="910850"/>
            <a:ext cx="5170250" cy="387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Wild Code Schoo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